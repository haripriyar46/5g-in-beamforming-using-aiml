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7" r:id="rId2"/>
    <p:sldId id="257" r:id="rId3"/>
    <p:sldId id="270" r:id="rId4"/>
    <p:sldId id="271" r:id="rId5"/>
    <p:sldId id="280" r:id="rId6"/>
    <p:sldId id="281" r:id="rId7"/>
    <p:sldId id="282" r:id="rId8"/>
    <p:sldId id="283" r:id="rId9"/>
    <p:sldId id="272" r:id="rId10"/>
    <p:sldId id="273" r:id="rId11"/>
    <p:sldId id="274" r:id="rId12"/>
    <p:sldId id="275" r:id="rId13"/>
    <p:sldId id="284" r:id="rId14"/>
    <p:sldId id="276" r:id="rId15"/>
    <p:sldId id="277" r:id="rId16"/>
    <p:sldId id="278" r:id="rId17"/>
    <p:sldId id="269" r:id="rId18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72" autoAdjust="0"/>
    <p:restoredTop sz="88364" autoAdjust="0"/>
  </p:normalViewPr>
  <p:slideViewPr>
    <p:cSldViewPr>
      <p:cViewPr>
        <p:scale>
          <a:sx n="126" d="100"/>
          <a:sy n="126" d="100"/>
        </p:scale>
        <p:origin x="2213" y="30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1048824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 dirty="0"/>
          </a:p>
        </p:txBody>
      </p:sp>
      <p:sp>
        <p:nvSpPr>
          <p:cNvPr id="1048825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26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27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104882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9409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492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9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492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976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5F49E-5151-3EC5-DF21-C07504973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E088D-16EA-00EB-F370-91810A24C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4925" cy="3838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79B309-32F4-F9AB-FBBC-791FDCFF3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42BFB-9D11-2483-2ECB-5A37FBF31E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969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C31F9-32FE-67F7-F1C6-9C055A56A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565712-5D43-89D2-38B0-29C12F578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4925" cy="3838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59230-7A81-6D62-90CF-3B1E32899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26B83-E9EA-CA95-C622-A4D281D1E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632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3DA47-BB1C-73D4-E16E-0C1689343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9DD68F-500F-083B-BEA9-36CDB460D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4925" cy="3838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586B4-4FC5-31FE-2097-B402A4160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D8D21-2D0B-9DE2-939B-D654AD871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263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C3231-8EC0-7F2B-7339-71A47D453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15FBD3-00C7-A280-D2E3-08F9F08CD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4925" cy="38385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3AEE52-B09D-58F1-0999-BA2A54A73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5CBF8-8017-A193-44E1-9062D3A72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75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bk object 16"/>
          <p:cNvSpPr/>
          <p:nvPr/>
        </p:nvSpPr>
        <p:spPr>
          <a:xfrm>
            <a:off x="4212183" y="2853629"/>
            <a:ext cx="359951" cy="3594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48659" name="bk object 17"/>
          <p:cNvSpPr/>
          <p:nvPr/>
        </p:nvSpPr>
        <p:spPr>
          <a:xfrm>
            <a:off x="0" y="0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0" y="321500"/>
                </a:moveTo>
                <a:lnTo>
                  <a:pt x="4608004" y="321500"/>
                </a:lnTo>
                <a:lnTo>
                  <a:pt x="4608004" y="0"/>
                </a:lnTo>
                <a:lnTo>
                  <a:pt x="0" y="0"/>
                </a:lnTo>
                <a:lnTo>
                  <a:pt x="0" y="32150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48660" name="Holder 2"/>
          <p:cNvSpPr>
            <a:spLocks noGrp="1"/>
          </p:cNvSpPr>
          <p:nvPr>
            <p:ph type="ctrTitle"/>
          </p:nvPr>
        </p:nvSpPr>
        <p:spPr>
          <a:xfrm>
            <a:off x="95300" y="45565"/>
            <a:ext cx="4419498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48661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62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April 26,</a:t>
            </a:r>
            <a:r>
              <a:rPr spc="-45" dirty="0"/>
              <a:t> </a:t>
            </a:r>
            <a:r>
              <a:rPr spc="-5" dirty="0"/>
              <a:t>2017</a:t>
            </a:r>
          </a:p>
        </p:txBody>
      </p:sp>
      <p:sp>
        <p:nvSpPr>
          <p:cNvPr id="1048663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/>
              <a:t>(Dept. of ECE, VVCE, Mysuru)</a:t>
            </a:r>
            <a:endParaRPr spc="-5" dirty="0"/>
          </a:p>
        </p:txBody>
      </p:sp>
      <p:sp>
        <p:nvSpPr>
          <p:cNvPr id="1048664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70"/>
                </a:spcBef>
              </a:pPr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14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bk object 16"/>
          <p:cNvSpPr/>
          <p:nvPr/>
        </p:nvSpPr>
        <p:spPr>
          <a:xfrm>
            <a:off x="4212183" y="2853629"/>
            <a:ext cx="359951" cy="3594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48583" name="bk object 17"/>
          <p:cNvSpPr/>
          <p:nvPr/>
        </p:nvSpPr>
        <p:spPr>
          <a:xfrm>
            <a:off x="0" y="0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0" y="321500"/>
                </a:moveTo>
                <a:lnTo>
                  <a:pt x="4608004" y="321500"/>
                </a:lnTo>
                <a:lnTo>
                  <a:pt x="4608004" y="0"/>
                </a:lnTo>
                <a:lnTo>
                  <a:pt x="0" y="0"/>
                </a:lnTo>
                <a:lnTo>
                  <a:pt x="0" y="32150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48584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048585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48586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April 26,</a:t>
            </a:r>
            <a:r>
              <a:rPr spc="-45" dirty="0"/>
              <a:t> </a:t>
            </a:r>
            <a:r>
              <a:rPr spc="-5" dirty="0"/>
              <a:t>2017</a:t>
            </a:r>
          </a:p>
        </p:txBody>
      </p:sp>
      <p:sp>
        <p:nvSpPr>
          <p:cNvPr id="1048587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/>
              <a:t>(Dept. of ECE, VVCE, Mysuru)</a:t>
            </a:r>
            <a:endParaRPr spc="-5" dirty="0"/>
          </a:p>
        </p:txBody>
      </p:sp>
      <p:sp>
        <p:nvSpPr>
          <p:cNvPr id="1048588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70"/>
                </a:spcBef>
              </a:pPr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14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7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048818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819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820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April 26,</a:t>
            </a:r>
            <a:r>
              <a:rPr spc="-45" dirty="0"/>
              <a:t> </a:t>
            </a:r>
            <a:r>
              <a:rPr spc="-5" dirty="0"/>
              <a:t>2017</a:t>
            </a:r>
          </a:p>
        </p:txBody>
      </p:sp>
      <p:sp>
        <p:nvSpPr>
          <p:cNvPr id="1048821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/>
              <a:t>(Dept. of ECE, VVCE, Mysuru)</a:t>
            </a:r>
            <a:endParaRPr spc="-5" dirty="0"/>
          </a:p>
        </p:txBody>
      </p:sp>
      <p:sp>
        <p:nvSpPr>
          <p:cNvPr id="1048822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70"/>
                </a:spcBef>
              </a:pPr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14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bk object 16"/>
          <p:cNvSpPr/>
          <p:nvPr/>
        </p:nvSpPr>
        <p:spPr>
          <a:xfrm>
            <a:off x="4212183" y="2853629"/>
            <a:ext cx="359951" cy="3594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48641" name="bk object 17"/>
          <p:cNvSpPr/>
          <p:nvPr/>
        </p:nvSpPr>
        <p:spPr>
          <a:xfrm>
            <a:off x="0" y="0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>
                <a:moveTo>
                  <a:pt x="0" y="321500"/>
                </a:moveTo>
                <a:lnTo>
                  <a:pt x="4608004" y="321500"/>
                </a:lnTo>
                <a:lnTo>
                  <a:pt x="4608004" y="0"/>
                </a:lnTo>
                <a:lnTo>
                  <a:pt x="0" y="0"/>
                </a:lnTo>
                <a:lnTo>
                  <a:pt x="0" y="32150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4864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04864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April 26,</a:t>
            </a:r>
            <a:r>
              <a:rPr spc="-45" dirty="0"/>
              <a:t> </a:t>
            </a:r>
            <a:r>
              <a:rPr spc="-5" dirty="0"/>
              <a:t>2017</a:t>
            </a:r>
          </a:p>
        </p:txBody>
      </p:sp>
      <p:sp>
        <p:nvSpPr>
          <p:cNvPr id="104864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/>
              <a:t>(Dept. of ECE, VVCE, Mysuru)</a:t>
            </a:r>
            <a:endParaRPr spc="-5" dirty="0"/>
          </a:p>
        </p:txBody>
      </p:sp>
      <p:sp>
        <p:nvSpPr>
          <p:cNvPr id="104864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70"/>
                </a:spcBef>
              </a:pPr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14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April 26,</a:t>
            </a:r>
            <a:r>
              <a:rPr spc="-45" dirty="0"/>
              <a:t> </a:t>
            </a:r>
            <a:r>
              <a:rPr spc="-5" dirty="0"/>
              <a:t>2017</a:t>
            </a:r>
          </a:p>
        </p:txBody>
      </p:sp>
      <p:sp>
        <p:nvSpPr>
          <p:cNvPr id="1048710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/>
              <a:t>(Dept. of ECE, VVCE, Mysuru)</a:t>
            </a:r>
            <a:endParaRPr spc="-5" dirty="0"/>
          </a:p>
        </p:txBody>
      </p:sp>
      <p:sp>
        <p:nvSpPr>
          <p:cNvPr id="1048711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70"/>
                </a:spcBef>
              </a:pPr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14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bk object 16"/>
          <p:cNvSpPr/>
          <p:nvPr/>
        </p:nvSpPr>
        <p:spPr>
          <a:xfrm>
            <a:off x="4212183" y="2853629"/>
            <a:ext cx="359951" cy="35945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48577" name="Holder 2"/>
          <p:cNvSpPr>
            <a:spLocks noGrp="1"/>
          </p:cNvSpPr>
          <p:nvPr>
            <p:ph type="title"/>
          </p:nvPr>
        </p:nvSpPr>
        <p:spPr>
          <a:xfrm>
            <a:off x="95300" y="45565"/>
            <a:ext cx="4419498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048578" name="Holder 3"/>
          <p:cNvSpPr>
            <a:spLocks noGrp="1"/>
          </p:cNvSpPr>
          <p:nvPr>
            <p:ph type="body" idx="1"/>
          </p:nvPr>
        </p:nvSpPr>
        <p:spPr>
          <a:xfrm>
            <a:off x="125844" y="928432"/>
            <a:ext cx="4358411" cy="1644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48579" name="Holder 4"/>
          <p:cNvSpPr>
            <a:spLocks noGrp="1"/>
          </p:cNvSpPr>
          <p:nvPr>
            <p:ph type="ftr" sz="quarter" idx="5"/>
          </p:nvPr>
        </p:nvSpPr>
        <p:spPr>
          <a:xfrm>
            <a:off x="3641216" y="3331252"/>
            <a:ext cx="495300" cy="120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April 26,</a:t>
            </a:r>
            <a:r>
              <a:rPr spc="-45" dirty="0"/>
              <a:t> </a:t>
            </a:r>
            <a:r>
              <a:rPr spc="-5" dirty="0"/>
              <a:t>2017</a:t>
            </a:r>
          </a:p>
        </p:txBody>
      </p:sp>
      <p:sp>
        <p:nvSpPr>
          <p:cNvPr id="1048580" name="Holder 5"/>
          <p:cNvSpPr>
            <a:spLocks noGrp="1"/>
          </p:cNvSpPr>
          <p:nvPr>
            <p:ph type="dt" sz="half" idx="6"/>
          </p:nvPr>
        </p:nvSpPr>
        <p:spPr>
          <a:xfrm>
            <a:off x="256527" y="3331252"/>
            <a:ext cx="1065530" cy="120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/>
              <a:t>(Dept. of ECE, VVCE, Mysuru)</a:t>
            </a:r>
            <a:endParaRPr spc="-5" dirty="0"/>
          </a:p>
        </p:txBody>
      </p:sp>
      <p:sp>
        <p:nvSpPr>
          <p:cNvPr id="1048581" name="Holder 6"/>
          <p:cNvSpPr>
            <a:spLocks noGrp="1"/>
          </p:cNvSpPr>
          <p:nvPr>
            <p:ph type="sldNum" sz="quarter" idx="7"/>
          </p:nvPr>
        </p:nvSpPr>
        <p:spPr>
          <a:xfrm>
            <a:off x="4270990" y="3331252"/>
            <a:ext cx="270510" cy="120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pPr marL="25400">
                <a:lnSpc>
                  <a:spcPct val="100000"/>
                </a:lnSpc>
                <a:spcBef>
                  <a:spcPts val="70"/>
                </a:spcBef>
              </a:pPr>
              <a:t>‹#›</a:t>
            </a:fld>
            <a:r>
              <a:rPr spc="-5" dirty="0"/>
              <a:t> /</a:t>
            </a:r>
            <a:r>
              <a:rPr spc="-70" dirty="0"/>
              <a:t> </a:t>
            </a:r>
            <a:r>
              <a:rPr spc="-5" dirty="0"/>
              <a:t>14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cispace.com/authors/nikolaos-apostolakis-tahvm4icnc" TargetMode="External"/><Relationship Id="rId7" Type="http://schemas.openxmlformats.org/officeDocument/2006/relationships/hyperlink" Target="https://scispace.com/journals/ieee-communications-magazine-3o3l2e8g/2023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ispace.com/authors/marco-gramaglia-4xxrowapl5" TargetMode="External"/><Relationship Id="rId5" Type="http://schemas.openxmlformats.org/officeDocument/2006/relationships/hyperlink" Target="https://scispace.com/authors/dario-bega-2nckn46u5c" TargetMode="External"/><Relationship Id="rId4" Type="http://schemas.openxmlformats.org/officeDocument/2006/relationships/hyperlink" Target="https://scispace.com/authors/livia-elena-chatzieleftheriou-42jgpnrnxu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space.com/journals/future-internet-1dl9270e/2025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308.05315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9"/>
          <p:cNvSpPr/>
          <p:nvPr/>
        </p:nvSpPr>
        <p:spPr>
          <a:xfrm>
            <a:off x="323850" y="3330575"/>
            <a:ext cx="1219200" cy="130175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76" y="129031"/>
                </a:lnTo>
                <a:lnTo>
                  <a:pt x="1535976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9"/>
          <p:cNvSpPr/>
          <p:nvPr/>
        </p:nvSpPr>
        <p:spPr>
          <a:xfrm>
            <a:off x="3124200" y="3331211"/>
            <a:ext cx="1238250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76" y="129031"/>
                </a:lnTo>
                <a:lnTo>
                  <a:pt x="1535976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pPr algn="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6" name="object 9"/>
          <p:cNvSpPr/>
          <p:nvPr/>
        </p:nvSpPr>
        <p:spPr>
          <a:xfrm>
            <a:off x="4520310" y="26068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7" name="object 10"/>
          <p:cNvSpPr/>
          <p:nvPr/>
        </p:nvSpPr>
        <p:spPr>
          <a:xfrm>
            <a:off x="4520310" y="24798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1" name="object 14"/>
          <p:cNvSpPr txBox="1"/>
          <p:nvPr/>
        </p:nvSpPr>
        <p:spPr>
          <a:xfrm>
            <a:off x="1390650" y="2568575"/>
            <a:ext cx="1957128" cy="70128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96215" marR="5080" indent="-184150" algn="ctr">
              <a:lnSpc>
                <a:spcPct val="102600"/>
              </a:lnSpc>
              <a:spcBef>
                <a:spcPts val="55"/>
              </a:spcBef>
            </a:pPr>
            <a:r>
              <a:rPr lang="en-IN" sz="1050" spc="-10" dirty="0">
                <a:latin typeface="Times New Roman" pitchFamily="18" charset="0"/>
                <a:cs typeface="Times New Roman" pitchFamily="18" charset="0"/>
              </a:rPr>
              <a:t>Under the guidance of </a:t>
            </a:r>
          </a:p>
          <a:p>
            <a:pPr marL="196215" marR="5080" indent="-184150" algn="ctr">
              <a:lnSpc>
                <a:spcPct val="102600"/>
              </a:lnSpc>
              <a:spcBef>
                <a:spcPts val="55"/>
              </a:spcBef>
            </a:pPr>
            <a:r>
              <a:rPr lang="en-IN" sz="1050" b="1" spc="-10" dirty="0">
                <a:latin typeface="Times New Roman" pitchFamily="18" charset="0"/>
                <a:cs typeface="Times New Roman" pitchFamily="18" charset="0"/>
              </a:rPr>
              <a:t>Dr. Chaithanya DJ</a:t>
            </a:r>
          </a:p>
          <a:p>
            <a:pPr marL="196215" marR="5080" indent="-184150" algn="ctr">
              <a:lnSpc>
                <a:spcPct val="102600"/>
              </a:lnSpc>
              <a:spcBef>
                <a:spcPts val="55"/>
              </a:spcBef>
            </a:pPr>
            <a:r>
              <a:rPr lang="en-US" sz="1050" spc="-5" dirty="0">
                <a:latin typeface="Times New Roman" pitchFamily="18" charset="0"/>
                <a:cs typeface="Times New Roman" pitchFamily="18" charset="0"/>
              </a:rPr>
              <a:t>Assistant Professor </a:t>
            </a:r>
          </a:p>
          <a:p>
            <a:pPr marL="196215" marR="5080" indent="-184150" algn="ctr">
              <a:lnSpc>
                <a:spcPct val="102600"/>
              </a:lnSpc>
              <a:spcBef>
                <a:spcPts val="55"/>
              </a:spcBef>
            </a:pPr>
            <a:r>
              <a:rPr lang="en-US" sz="1050" spc="-5" dirty="0">
                <a:latin typeface="Times New Roman" pitchFamily="18" charset="0"/>
                <a:cs typeface="Times New Roman" pitchFamily="18" charset="0"/>
              </a:rPr>
              <a:t>Dept. of ECE</a:t>
            </a:r>
            <a:endParaRPr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07" name="object 20"/>
          <p:cNvSpPr txBox="1">
            <a:spLocks noGrp="1"/>
          </p:cNvSpPr>
          <p:nvPr>
            <p:ph type="dt" sz="half" idx="6"/>
          </p:nvPr>
        </p:nvSpPr>
        <p:spPr>
          <a:xfrm>
            <a:off x="400050" y="3359440"/>
            <a:ext cx="1066800" cy="10131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 dirty="0">
                <a:latin typeface="Times New Roman" pitchFamily="18" charset="0"/>
                <a:cs typeface="Times New Roman" pitchFamily="18" charset="0"/>
              </a:rPr>
              <a:t>(Dept. of  ECE, VVCE, </a:t>
            </a:r>
            <a:r>
              <a:rPr lang="en-US" spc="-5" dirty="0" err="1">
                <a:latin typeface="Times New Roman" pitchFamily="18" charset="0"/>
                <a:cs typeface="Times New Roman" pitchFamily="18" charset="0"/>
              </a:rPr>
              <a:t>Mysuru</a:t>
            </a:r>
            <a:r>
              <a:rPr lang="en-US" spc="-5" dirty="0">
                <a:latin typeface="Times New Roman" pitchFamily="18" charset="0"/>
                <a:cs typeface="Times New Roman" pitchFamily="18" charset="0"/>
              </a:rPr>
              <a:t>)</a:t>
            </a:r>
            <a:endParaRPr spc="-5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9" name="Picture 5" descr="G:\vvce header updated EC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250" y="130175"/>
            <a:ext cx="4349531" cy="762000"/>
          </a:xfrm>
          <a:prstGeom prst="rect">
            <a:avLst/>
          </a:prstGeom>
          <a:noFill/>
        </p:spPr>
      </p:pic>
      <p:sp>
        <p:nvSpPr>
          <p:cNvPr id="31" name="Slide Number Placeholder 30"/>
          <p:cNvSpPr>
            <a:spLocks noGrp="1"/>
          </p:cNvSpPr>
          <p:nvPr>
            <p:ph type="sldNum" sz="quarter" idx="7"/>
          </p:nvPr>
        </p:nvSpPr>
        <p:spPr>
          <a:xfrm>
            <a:off x="4057650" y="3368417"/>
            <a:ext cx="270510" cy="92333"/>
          </a:xfrm>
        </p:spPr>
        <p:txBody>
          <a:bodyPr/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US" spc="-5" smtClean="0">
                <a:latin typeface="Times New Roman" pitchFamily="18" charset="0"/>
                <a:cs typeface="Times New Roman" pitchFamily="18" charset="0"/>
              </a:rPr>
              <a:pPr marL="25400">
                <a:lnSpc>
                  <a:spcPct val="100000"/>
                </a:lnSpc>
                <a:spcBef>
                  <a:spcPts val="70"/>
                </a:spcBef>
              </a:pPr>
              <a:t>1</a:t>
            </a:fld>
            <a:r>
              <a:rPr lang="en-US" spc="-5" dirty="0"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en-US" spc="-7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5" dirty="0">
                <a:latin typeface="Times New Roman" pitchFamily="18" charset="0"/>
                <a:cs typeface="Times New Roman" pitchFamily="18" charset="0"/>
              </a:rPr>
              <a:t>14</a:t>
            </a:r>
          </a:p>
        </p:txBody>
      </p:sp>
      <p:sp>
        <p:nvSpPr>
          <p:cNvPr id="32" name="Footer Placeholder 31"/>
          <p:cNvSpPr>
            <a:spLocks noGrp="1"/>
          </p:cNvSpPr>
          <p:nvPr>
            <p:ph type="ftr" sz="quarter" idx="5"/>
          </p:nvPr>
        </p:nvSpPr>
        <p:spPr>
          <a:xfrm>
            <a:off x="3371850" y="3368417"/>
            <a:ext cx="495300" cy="92333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 dirty="0">
                <a:latin typeface="Times New Roman" pitchFamily="18" charset="0"/>
                <a:cs typeface="Times New Roman" pitchFamily="18" charset="0"/>
              </a:rPr>
              <a:t>10/04/25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5187" y="1353470"/>
            <a:ext cx="347363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spc="-5" dirty="0">
                <a:latin typeface="Times New Roman" pitchFamily="18" charset="0"/>
                <a:cs typeface="Times New Roman" pitchFamily="18" charset="0"/>
              </a:rPr>
              <a:t>Carried out by</a:t>
            </a:r>
          </a:p>
          <a:p>
            <a:pPr algn="ctr"/>
            <a:endParaRPr lang="en-IN" sz="105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sz="1050" dirty="0">
                <a:latin typeface="Times New Roman" pitchFamily="18" charset="0"/>
                <a:cs typeface="Times New Roman" pitchFamily="18" charset="0"/>
              </a:rPr>
              <a:t>Haripriya R                        4VV21EC046 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sz="1050" dirty="0">
                <a:latin typeface="Times New Roman" pitchFamily="18" charset="0"/>
                <a:cs typeface="Times New Roman" pitchFamily="18" charset="0"/>
              </a:rPr>
              <a:t>Rakshitha Lakshman          4VV21EC124</a:t>
            </a:r>
          </a:p>
          <a:p>
            <a:pPr algn="ctr"/>
            <a:r>
              <a:rPr lang="en-IN" sz="1050" dirty="0">
                <a:latin typeface="Times New Roman" pitchFamily="18" charset="0"/>
                <a:cs typeface="Times New Roman" pitchFamily="18" charset="0"/>
              </a:rPr>
              <a:t>Sheethal R                          4VV21EC141 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sz="1050" dirty="0">
                <a:latin typeface="Times New Roman" pitchFamily="18" charset="0"/>
                <a:cs typeface="Times New Roman" pitchFamily="18" charset="0"/>
              </a:rPr>
              <a:t>Swarna CN                         4VV21EC165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sz="105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sz="1050" dirty="0">
                <a:latin typeface="Times New Roman" pitchFamily="18" charset="0"/>
                <a:cs typeface="Times New Roman" pitchFamily="18" charset="0"/>
              </a:rPr>
              <a:t> 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object 2"/>
          <p:cNvSpPr/>
          <p:nvPr/>
        </p:nvSpPr>
        <p:spPr>
          <a:xfrm>
            <a:off x="81660" y="950304"/>
            <a:ext cx="4438650" cy="323741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7" y="82384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2" y="4008"/>
                </a:lnTo>
                <a:lnTo>
                  <a:pt x="438176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20"/>
          <p:cNvSpPr txBox="1">
            <a:spLocks/>
          </p:cNvSpPr>
          <p:nvPr/>
        </p:nvSpPr>
        <p:spPr>
          <a:xfrm>
            <a:off x="79809" y="1053633"/>
            <a:ext cx="4438650" cy="28123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-5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Empowering 6G Communication Systems with Digital Twin Technology using ML</a:t>
            </a:r>
          </a:p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1200" cap="none" spc="-5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570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00" y="55049"/>
            <a:ext cx="4419498" cy="246221"/>
          </a:xfrm>
        </p:spPr>
        <p:txBody>
          <a:bodyPr/>
          <a:lstStyle/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" y="368260"/>
            <a:ext cx="3657600" cy="2969274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Objective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Methodology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Hardware and Software Requirements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Results and discussion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Conclusion and future work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Publication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algn="just">
              <a:lnSpc>
                <a:spcPct val="150000"/>
              </a:lnSpc>
            </a:pPr>
            <a:endParaRPr lang="en-US" sz="300" dirty="0">
              <a:latin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>
          <a:xfrm>
            <a:off x="552450" y="3368417"/>
            <a:ext cx="1143000" cy="92333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 dirty="0">
                <a:solidFill>
                  <a:schemeClr val="tx1"/>
                </a:solidFill>
              </a:rPr>
              <a:t>(</a:t>
            </a:r>
            <a:r>
              <a:rPr lang="en-US" spc="-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Dept. of  ECE, VVCE, </a:t>
            </a:r>
            <a:r>
              <a:rPr lang="en-US" spc="-5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Mysuru</a:t>
            </a:r>
            <a:r>
              <a:rPr lang="en-US" spc="-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>
          <a:xfrm>
            <a:off x="4210050" y="3368417"/>
            <a:ext cx="270510" cy="92333"/>
          </a:xfrm>
        </p:spPr>
        <p:txBody>
          <a:bodyPr/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US" spc="-5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pPr marL="25400">
                <a:lnSpc>
                  <a:spcPct val="100000"/>
                </a:lnSpc>
                <a:spcBef>
                  <a:spcPts val="70"/>
                </a:spcBef>
              </a:pPr>
              <a:t>2</a:t>
            </a:fld>
            <a:r>
              <a:rPr lang="en-US" spc="-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/</a:t>
            </a:r>
            <a:r>
              <a:rPr lang="en-US" spc="-7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5"/>
          </p:nvPr>
        </p:nvSpPr>
        <p:spPr>
          <a:xfrm>
            <a:off x="3600450" y="3368417"/>
            <a:ext cx="495300" cy="92333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10/04/24</a:t>
            </a:r>
          </a:p>
        </p:txBody>
      </p:sp>
    </p:spTree>
    <p:extLst>
      <p:ext uri="{BB962C8B-B14F-4D97-AF65-F5344CB8AC3E}">
        <p14:creationId xmlns:p14="http://schemas.microsoft.com/office/powerpoint/2010/main" val="1608953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52B42-85DB-95F9-FE98-1B51CC1B8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45565"/>
            <a:ext cx="4419498" cy="430887"/>
          </a:xfrm>
        </p:spPr>
        <p:txBody>
          <a:bodyPr/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Introduction</a:t>
            </a:r>
            <a:br>
              <a:rPr lang="en-US" sz="1400" b="1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89ABD-D617-5BFA-90CB-D6F667AD8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300" y="587375"/>
            <a:ext cx="4446200" cy="2827810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Beamforming is a signal processing technique that directs the transmission or reception of signals toward a specific direction.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F5BEB-A2D8-363D-D088-0BD3EF44BFD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IN" spc="-5"/>
              <a:t>April 26,</a:t>
            </a:r>
            <a:r>
              <a:rPr lang="en-IN" spc="-45"/>
              <a:t> </a:t>
            </a:r>
            <a:r>
              <a:rPr lang="en-IN" spc="-5"/>
              <a:t>2017</a:t>
            </a:r>
            <a:endParaRPr lang="en-IN" spc="-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9B3A2-35BD-A68C-08BF-FB908F1A4A7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/>
              <a:t>(Dept. of ECE, VVCE, Mysuru)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9A7F2-3149-A3B1-3441-49DDD47D4E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pc="-5" smtClean="0"/>
              <a:pPr marL="25400">
                <a:lnSpc>
                  <a:spcPct val="100000"/>
                </a:lnSpc>
                <a:spcBef>
                  <a:spcPts val="70"/>
                </a:spcBef>
              </a:pPr>
              <a:t>3</a:t>
            </a:fld>
            <a:r>
              <a:rPr lang="en-IN" spc="-5"/>
              <a:t> /</a:t>
            </a:r>
            <a:r>
              <a:rPr lang="en-IN" spc="-70"/>
              <a:t> </a:t>
            </a:r>
            <a:r>
              <a:rPr lang="en-IN" spc="-5"/>
              <a:t>14</a:t>
            </a:r>
            <a:endParaRPr lang="en-IN" spc="-5" dirty="0"/>
          </a:p>
        </p:txBody>
      </p:sp>
      <p:pic>
        <p:nvPicPr>
          <p:cNvPr id="7" name="Picture 6" descr="From Algorithms to Ascent: Navigating ...">
            <a:extLst>
              <a:ext uri="{FF2B5EF4-FFF2-40B4-BE49-F238E27FC236}">
                <a16:creationId xmlns:a16="http://schemas.microsoft.com/office/drawing/2014/main" id="{FB52C5E3-22B8-B0E7-EDAF-57B8717E7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11" y="1256112"/>
            <a:ext cx="1895475" cy="1061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9E4F078-5FF7-8569-5A79-FCE375444E62}"/>
              </a:ext>
            </a:extLst>
          </p:cNvPr>
          <p:cNvSpPr txBox="1"/>
          <p:nvPr/>
        </p:nvSpPr>
        <p:spPr>
          <a:xfrm>
            <a:off x="704850" y="2296659"/>
            <a:ext cx="7713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Fig.1. AI-ML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5DD3973C-8C21-5021-4DEF-3312913D44FC}"/>
              </a:ext>
            </a:extLst>
          </p:cNvPr>
          <p:cNvSpPr/>
          <p:nvPr/>
        </p:nvSpPr>
        <p:spPr>
          <a:xfrm>
            <a:off x="2728735" y="1807657"/>
            <a:ext cx="152400" cy="1524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EBBF1C39-ADC5-8641-12AE-12F5D0EDFCB3}"/>
              </a:ext>
            </a:extLst>
          </p:cNvPr>
          <p:cNvSpPr/>
          <p:nvPr/>
        </p:nvSpPr>
        <p:spPr>
          <a:xfrm>
            <a:off x="3315084" y="1812829"/>
            <a:ext cx="152400" cy="152400"/>
          </a:xfrm>
          <a:prstGeom prst="triangle">
            <a:avLst>
              <a:gd name="adj" fmla="val 4314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03879BEF-C50D-FCBC-DAD7-A1D0B2D7DFB0}"/>
              </a:ext>
            </a:extLst>
          </p:cNvPr>
          <p:cNvSpPr/>
          <p:nvPr/>
        </p:nvSpPr>
        <p:spPr>
          <a:xfrm>
            <a:off x="3812666" y="1812829"/>
            <a:ext cx="152400" cy="1524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E7A0B9-C8D3-8AD5-07EA-39B647D901E4}"/>
              </a:ext>
            </a:extLst>
          </p:cNvPr>
          <p:cNvSpPr/>
          <p:nvPr/>
        </p:nvSpPr>
        <p:spPr>
          <a:xfrm>
            <a:off x="3255591" y="2467747"/>
            <a:ext cx="265736" cy="5005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Speech Bubble: Oval 14">
            <a:extLst>
              <a:ext uri="{FF2B5EF4-FFF2-40B4-BE49-F238E27FC236}">
                <a16:creationId xmlns:a16="http://schemas.microsoft.com/office/drawing/2014/main" id="{35ED281A-503B-C6E0-8E4A-DA53F32F4368}"/>
              </a:ext>
            </a:extLst>
          </p:cNvPr>
          <p:cNvSpPr/>
          <p:nvPr/>
        </p:nvSpPr>
        <p:spPr>
          <a:xfrm>
            <a:off x="3352333" y="2683665"/>
            <a:ext cx="230302" cy="208872"/>
          </a:xfrm>
          <a:prstGeom prst="wedgeEllipseCallou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4CEEF3-5362-0334-363D-D982CC5B37B9}"/>
              </a:ext>
            </a:extLst>
          </p:cNvPr>
          <p:cNvSpPr txBox="1"/>
          <p:nvPr/>
        </p:nvSpPr>
        <p:spPr>
          <a:xfrm>
            <a:off x="2538216" y="1122189"/>
            <a:ext cx="1676476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Processing Unit</a:t>
            </a:r>
            <a:endParaRPr lang="en-IN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6D9FE6D-E1DD-86D3-3A29-1BE1F8A7701B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3376454" y="1399188"/>
            <a:ext cx="4380" cy="371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D49609C-7D58-209D-9EC3-33D19FBA191D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2812179" y="1399188"/>
            <a:ext cx="564275" cy="360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3AE6FE9-999B-007F-3D6E-FA84C46EF1F2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3376454" y="1399188"/>
            <a:ext cx="514973" cy="349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FFD8B71-704B-5B80-B0E5-3FBBFF2DAFE2}"/>
              </a:ext>
            </a:extLst>
          </p:cNvPr>
          <p:cNvCxnSpPr>
            <a:cxnSpLocks/>
          </p:cNvCxnSpPr>
          <p:nvPr/>
        </p:nvCxnSpPr>
        <p:spPr>
          <a:xfrm>
            <a:off x="2862552" y="2070980"/>
            <a:ext cx="324732" cy="412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E0931F-4320-55B0-C7BF-7A017D11B1A0}"/>
              </a:ext>
            </a:extLst>
          </p:cNvPr>
          <p:cNvCxnSpPr>
            <a:cxnSpLocks/>
          </p:cNvCxnSpPr>
          <p:nvPr/>
        </p:nvCxnSpPr>
        <p:spPr>
          <a:xfrm>
            <a:off x="3407884" y="2069173"/>
            <a:ext cx="0" cy="307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AE6593C-17BA-8B53-9773-8DFE91A56BE7}"/>
              </a:ext>
            </a:extLst>
          </p:cNvPr>
          <p:cNvCxnSpPr>
            <a:cxnSpLocks/>
          </p:cNvCxnSpPr>
          <p:nvPr/>
        </p:nvCxnSpPr>
        <p:spPr>
          <a:xfrm flipH="1">
            <a:off x="3614184" y="2076152"/>
            <a:ext cx="237078" cy="391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05DA791-04B1-A789-4178-DA8C67709639}"/>
              </a:ext>
            </a:extLst>
          </p:cNvPr>
          <p:cNvSpPr txBox="1"/>
          <p:nvPr/>
        </p:nvSpPr>
        <p:spPr>
          <a:xfrm>
            <a:off x="3896860" y="1771027"/>
            <a:ext cx="15826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Stations</a:t>
            </a: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357C4F-8A54-AD80-650F-1DE41070CD6B}"/>
              </a:ext>
            </a:extLst>
          </p:cNvPr>
          <p:cNvSpPr txBox="1"/>
          <p:nvPr/>
        </p:nvSpPr>
        <p:spPr>
          <a:xfrm>
            <a:off x="2115501" y="2996481"/>
            <a:ext cx="23231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Fig.2. Block Diagram Of Beamforming System</a:t>
            </a:r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946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5780A-50A7-4D2E-803B-58E910522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45565"/>
            <a:ext cx="4419498" cy="430887"/>
          </a:xfrm>
        </p:spPr>
        <p:txBody>
          <a:bodyPr/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Literature Survey</a:t>
            </a:r>
            <a:br>
              <a:rPr lang="en-US" sz="1400" b="1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548EEE-B7D8-75E8-E269-A4E3725C66F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IN" spc="-5"/>
              <a:t>April 26,</a:t>
            </a:r>
            <a:r>
              <a:rPr lang="en-IN" spc="-45"/>
              <a:t> </a:t>
            </a:r>
            <a:r>
              <a:rPr lang="en-IN" spc="-5"/>
              <a:t>2017</a:t>
            </a:r>
            <a:endParaRPr lang="en-IN" spc="-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15F9D-A563-FBAB-A750-A41C1234E79D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/>
              <a:t>(Dept. of ECE, VVCE, Mysuru)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BF587-39E8-D0F1-BC84-EF1E8E3930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pc="-5" smtClean="0"/>
              <a:pPr marL="25400">
                <a:lnSpc>
                  <a:spcPct val="100000"/>
                </a:lnSpc>
                <a:spcBef>
                  <a:spcPts val="70"/>
                </a:spcBef>
              </a:pPr>
              <a:t>4</a:t>
            </a:fld>
            <a:r>
              <a:rPr lang="en-IN" spc="-5"/>
              <a:t> /</a:t>
            </a:r>
            <a:r>
              <a:rPr lang="en-IN" spc="-70"/>
              <a:t> </a:t>
            </a:r>
            <a:r>
              <a:rPr lang="en-IN" spc="-5"/>
              <a:t>14</a:t>
            </a:r>
            <a:endParaRPr lang="en-IN" spc="-5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6FFA25C-3316-184D-DDD2-B50F44D58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24301"/>
              </p:ext>
            </p:extLst>
          </p:nvPr>
        </p:nvGraphicFramePr>
        <p:xfrm>
          <a:off x="68600" y="418152"/>
          <a:ext cx="4293850" cy="2957086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525008">
                  <a:extLst>
                    <a:ext uri="{9D8B030D-6E8A-4147-A177-3AD203B41FA5}">
                      <a16:colId xmlns:a16="http://schemas.microsoft.com/office/drawing/2014/main" val="1354212648"/>
                    </a:ext>
                  </a:extLst>
                </a:gridCol>
                <a:gridCol w="2768842">
                  <a:extLst>
                    <a:ext uri="{9D8B030D-6E8A-4147-A177-3AD203B41FA5}">
                      <a16:colId xmlns:a16="http://schemas.microsoft.com/office/drawing/2014/main" val="1119077142"/>
                    </a:ext>
                  </a:extLst>
                </a:gridCol>
              </a:tblGrid>
              <a:tr h="724556">
                <a:tc>
                  <a:txBody>
                    <a:bodyPr/>
                    <a:lstStyle/>
                    <a:p>
                      <a:r>
                        <a:rPr lang="en-US" sz="9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Cristina-Maria Andras,</a:t>
                      </a:r>
                    </a:p>
                    <a:p>
                      <a:pPr algn="just"/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Teodora-Florentina </a:t>
                      </a:r>
                      <a:r>
                        <a:rPr lang="en-IN" sz="9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Rîcoiu</a:t>
                      </a:r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</a:p>
                    <a:p>
                      <a:pPr algn="just"/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Daniel-Alexandru </a:t>
                      </a:r>
                      <a:r>
                        <a:rPr lang="en-IN" sz="9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Drugea</a:t>
                      </a:r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</a:p>
                    <a:p>
                      <a:pPr algn="just"/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Gordana Barb,</a:t>
                      </a:r>
                    </a:p>
                    <a:p>
                      <a:pPr algn="just"/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Marius </a:t>
                      </a:r>
                      <a:r>
                        <a:rPr lang="en-IN" sz="9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Oteşteanu</a:t>
                      </a:r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sz="9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051000"/>
                  </a:ext>
                </a:extLst>
              </a:tr>
              <a:tr h="468830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9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 Overview and Classification on Beamforming Techniques for 5G Systems</a:t>
                      </a:r>
                    </a:p>
                    <a:p>
                      <a:pPr algn="l"/>
                      <a:endParaRPr lang="en-US" sz="9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994624"/>
                  </a:ext>
                </a:extLst>
              </a:tr>
              <a:tr h="468830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DETAILS: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07 Nov 2024</a:t>
                      </a:r>
                    </a:p>
                    <a:p>
                      <a:br>
                        <a:rPr lang="en-I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844594"/>
                  </a:ext>
                </a:extLst>
              </a:tr>
              <a:tr h="1174006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9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5G technologies have opened a new chapter in the field of connectivity, offering superior speeds, reduced latency, and unprecedented opportunities for a variety of industries.</a:t>
                      </a:r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184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986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3BD2F-858F-2559-478C-36E995D87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D6ABC-318B-26F1-0480-BDDB2F467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45565"/>
            <a:ext cx="4419498" cy="430887"/>
          </a:xfrm>
        </p:spPr>
        <p:txBody>
          <a:bodyPr/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Literature Survey</a:t>
            </a:r>
            <a:br>
              <a:rPr lang="en-US" sz="1400" b="1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7EBD2-84A5-DCEA-4842-FA83FDE630C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IN" spc="-5"/>
              <a:t>April 26,</a:t>
            </a:r>
            <a:r>
              <a:rPr lang="en-IN" spc="-45"/>
              <a:t> </a:t>
            </a:r>
            <a:r>
              <a:rPr lang="en-IN" spc="-5"/>
              <a:t>2017</a:t>
            </a:r>
            <a:endParaRPr lang="en-IN" spc="-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369B4-02F7-310B-1934-6C1CDB45306C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/>
              <a:t>(Dept. of ECE, VVCE, Mysuru)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C0C13-B0EF-64E6-6855-FEE583490B8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pc="-5" smtClean="0"/>
              <a:pPr marL="25400">
                <a:lnSpc>
                  <a:spcPct val="100000"/>
                </a:lnSpc>
                <a:spcBef>
                  <a:spcPts val="70"/>
                </a:spcBef>
              </a:pPr>
              <a:t>5</a:t>
            </a:fld>
            <a:r>
              <a:rPr lang="en-IN" spc="-5"/>
              <a:t> /</a:t>
            </a:r>
            <a:r>
              <a:rPr lang="en-IN" spc="-70"/>
              <a:t> </a:t>
            </a:r>
            <a:r>
              <a:rPr lang="en-IN" spc="-5"/>
              <a:t>14</a:t>
            </a:r>
            <a:endParaRPr lang="en-IN" spc="-5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F48B909-5C4B-885D-1427-F8B8FE223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257693"/>
              </p:ext>
            </p:extLst>
          </p:nvPr>
        </p:nvGraphicFramePr>
        <p:xfrm>
          <a:off x="68600" y="418152"/>
          <a:ext cx="4284973" cy="2961375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521855">
                  <a:extLst>
                    <a:ext uri="{9D8B030D-6E8A-4147-A177-3AD203B41FA5}">
                      <a16:colId xmlns:a16="http://schemas.microsoft.com/office/drawing/2014/main" val="1354212648"/>
                    </a:ext>
                  </a:extLst>
                </a:gridCol>
                <a:gridCol w="2763118">
                  <a:extLst>
                    <a:ext uri="{9D8B030D-6E8A-4147-A177-3AD203B41FA5}">
                      <a16:colId xmlns:a16="http://schemas.microsoft.com/office/drawing/2014/main" val="1119077142"/>
                    </a:ext>
                  </a:extLst>
                </a:gridCol>
              </a:tblGrid>
              <a:tr h="693954">
                <a:tc>
                  <a:txBody>
                    <a:bodyPr/>
                    <a:lstStyle/>
                    <a:p>
                      <a:r>
                        <a:rPr lang="en-US" sz="9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Warren Tanyaradzwa Chishiri, Krishan Kumar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051000"/>
                  </a:ext>
                </a:extLst>
              </a:tr>
              <a:tr h="613046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9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Analysis of Beamforming Performance in 5G Communication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9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en-US" sz="9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994624"/>
                  </a:ext>
                </a:extLst>
              </a:tr>
              <a:tr h="481679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DETAILS: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 Jun 2024</a:t>
                      </a:r>
                    </a:p>
                    <a:p>
                      <a:br>
                        <a:rPr lang="en-I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844594"/>
                  </a:ext>
                </a:extLst>
              </a:tr>
              <a:tr h="1124421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Beamforming is described as a technique that utilizes multiple radiating elements to create a focused signal, which is crucial for improving the efficiency and effectiveness of data transmission in 5G networks. This method allows for a more directed signal, which can lead to better coverage and reduced interference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184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63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B829B-2464-5C54-B13D-ADC7E123E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8E159-26DB-D159-2BFF-8ED0B74E6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45565"/>
            <a:ext cx="4419498" cy="430887"/>
          </a:xfrm>
        </p:spPr>
        <p:txBody>
          <a:bodyPr/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Literature Survey</a:t>
            </a:r>
            <a:br>
              <a:rPr lang="en-US" sz="1400" b="1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CB15B7-5B2B-C633-3D33-4692976171B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IN" spc="-5"/>
              <a:t>April 26,</a:t>
            </a:r>
            <a:r>
              <a:rPr lang="en-IN" spc="-45"/>
              <a:t> </a:t>
            </a:r>
            <a:r>
              <a:rPr lang="en-IN" spc="-5"/>
              <a:t>2017</a:t>
            </a:r>
            <a:endParaRPr lang="en-IN" spc="-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7ED95-0A88-1C28-4001-326BD6D60BA7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/>
              <a:t>(Dept. of ECE, VVCE, Mysuru)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8AB0B-1737-74E0-0246-F5E5FA24AA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pc="-5" smtClean="0"/>
              <a:pPr marL="25400">
                <a:lnSpc>
                  <a:spcPct val="100000"/>
                </a:lnSpc>
                <a:spcBef>
                  <a:spcPts val="70"/>
                </a:spcBef>
              </a:pPr>
              <a:t>6</a:t>
            </a:fld>
            <a:r>
              <a:rPr lang="en-IN" spc="-5"/>
              <a:t> /</a:t>
            </a:r>
            <a:r>
              <a:rPr lang="en-IN" spc="-70"/>
              <a:t> </a:t>
            </a:r>
            <a:r>
              <a:rPr lang="en-IN" spc="-5"/>
              <a:t>14</a:t>
            </a:r>
            <a:endParaRPr lang="en-IN" spc="-5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CA1FD84-E3C2-0A15-CD3E-89A324C2ED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907332"/>
              </p:ext>
            </p:extLst>
          </p:nvPr>
        </p:nvGraphicFramePr>
        <p:xfrm>
          <a:off x="68600" y="418152"/>
          <a:ext cx="4293850" cy="2922996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525008">
                  <a:extLst>
                    <a:ext uri="{9D8B030D-6E8A-4147-A177-3AD203B41FA5}">
                      <a16:colId xmlns:a16="http://schemas.microsoft.com/office/drawing/2014/main" val="1354212648"/>
                    </a:ext>
                  </a:extLst>
                </a:gridCol>
                <a:gridCol w="2768842">
                  <a:extLst>
                    <a:ext uri="{9D8B030D-6E8A-4147-A177-3AD203B41FA5}">
                      <a16:colId xmlns:a16="http://schemas.microsoft.com/office/drawing/2014/main" val="1119077142"/>
                    </a:ext>
                  </a:extLst>
                </a:gridCol>
              </a:tblGrid>
              <a:tr h="724556">
                <a:tc>
                  <a:txBody>
                    <a:bodyPr/>
                    <a:lstStyle/>
                    <a:p>
                      <a:r>
                        <a:rPr lang="en-US" sz="9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9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Hequn</a:t>
                      </a:r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Zhu,</a:t>
                      </a:r>
                    </a:p>
                    <a:p>
                      <a:pPr algn="just"/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Kun Huang,</a:t>
                      </a:r>
                    </a:p>
                    <a:p>
                      <a:pPr algn="just"/>
                      <a:r>
                        <a:rPr lang="en-IN" sz="9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Wensi</a:t>
                      </a:r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Zhao,</a:t>
                      </a:r>
                    </a:p>
                    <a:p>
                      <a:pPr algn="just"/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Long Xiao,</a:t>
                      </a:r>
                    </a:p>
                    <a:p>
                      <a:pPr algn="just"/>
                      <a:r>
                        <a:rPr lang="en-IN" sz="9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Huichao</a:t>
                      </a:r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Yang.</a:t>
                      </a:r>
                      <a:endParaRPr lang="en-US" sz="9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051000"/>
                  </a:ext>
                </a:extLst>
              </a:tr>
              <a:tr h="468830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Comparison of Beamforming Algorithms in 5G Mobile Scenarios.</a:t>
                      </a:r>
                    </a:p>
                    <a:p>
                      <a:pPr algn="l"/>
                      <a:endParaRPr lang="en-US" sz="9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994624"/>
                  </a:ext>
                </a:extLst>
              </a:tr>
              <a:tr h="468830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DETAILS: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br>
                        <a:rPr lang="en-I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28 Oct 2024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844594"/>
                  </a:ext>
                </a:extLst>
              </a:tr>
              <a:tr h="1174006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Beamforming technology is a key technology of 5G, which can effectively improve the spectrum efficiency and system capacity through the aggregation of the transmitted signal energy, and has been widely used in practical engineering.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184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294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9EFD1-6282-D4E0-E3C5-983B83805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B8DE9-74FF-ACE5-A0F6-5F47AFACA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45565"/>
            <a:ext cx="4419498" cy="430887"/>
          </a:xfrm>
        </p:spPr>
        <p:txBody>
          <a:bodyPr/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Literature Survey</a:t>
            </a:r>
            <a:br>
              <a:rPr lang="en-US" sz="1400" b="1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3603F-F7C4-F871-3013-28151E9C1D1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IN" spc="-5"/>
              <a:t>April 26,</a:t>
            </a:r>
            <a:r>
              <a:rPr lang="en-IN" spc="-45"/>
              <a:t> </a:t>
            </a:r>
            <a:r>
              <a:rPr lang="en-IN" spc="-5"/>
              <a:t>2017</a:t>
            </a:r>
            <a:endParaRPr lang="en-IN" spc="-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3BFBF-5204-0886-3301-62DE6CE0DBF4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/>
              <a:t>(Dept. of ECE, VVCE, Mysuru)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358C6-F33C-D40C-B751-BDBDA4368F2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pc="-5" smtClean="0"/>
              <a:pPr marL="25400">
                <a:lnSpc>
                  <a:spcPct val="100000"/>
                </a:lnSpc>
                <a:spcBef>
                  <a:spcPts val="70"/>
                </a:spcBef>
              </a:pPr>
              <a:t>7</a:t>
            </a:fld>
            <a:r>
              <a:rPr lang="en-IN" spc="-5"/>
              <a:t> /</a:t>
            </a:r>
            <a:r>
              <a:rPr lang="en-IN" spc="-70"/>
              <a:t> </a:t>
            </a:r>
            <a:r>
              <a:rPr lang="en-IN" spc="-5"/>
              <a:t>14</a:t>
            </a:r>
            <a:endParaRPr lang="en-IN" spc="-5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59800A2-CCFF-9917-9E1C-98A4754F8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483150"/>
              </p:ext>
            </p:extLst>
          </p:nvPr>
        </p:nvGraphicFramePr>
        <p:xfrm>
          <a:off x="68600" y="418152"/>
          <a:ext cx="4293850" cy="3026066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525008">
                  <a:extLst>
                    <a:ext uri="{9D8B030D-6E8A-4147-A177-3AD203B41FA5}">
                      <a16:colId xmlns:a16="http://schemas.microsoft.com/office/drawing/2014/main" val="1354212648"/>
                    </a:ext>
                  </a:extLst>
                </a:gridCol>
                <a:gridCol w="2768842">
                  <a:extLst>
                    <a:ext uri="{9D8B030D-6E8A-4147-A177-3AD203B41FA5}">
                      <a16:colId xmlns:a16="http://schemas.microsoft.com/office/drawing/2014/main" val="1119077142"/>
                    </a:ext>
                  </a:extLst>
                </a:gridCol>
              </a:tblGrid>
              <a:tr h="724556">
                <a:tc>
                  <a:txBody>
                    <a:bodyPr/>
                    <a:lstStyle/>
                    <a:p>
                      <a:r>
                        <a:rPr lang="en-US" sz="9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3"/>
                        </a:rPr>
                        <a:t>Nikolaos Apostolakis,</a:t>
                      </a:r>
                      <a:endParaRPr lang="en-IN" sz="9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4"/>
                        </a:rPr>
                        <a:t>Livia Elena </a:t>
                      </a:r>
                      <a:r>
                        <a:rPr lang="en-IN" sz="900" b="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4"/>
                        </a:rPr>
                        <a:t>Chatzieleftheriou</a:t>
                      </a:r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4"/>
                        </a:rPr>
                        <a:t>,</a:t>
                      </a:r>
                      <a:endParaRPr lang="en-IN" sz="9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5"/>
                        </a:rPr>
                        <a:t>Dario Bega,</a:t>
                      </a:r>
                      <a:endParaRPr lang="en-IN" sz="9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6"/>
                        </a:rPr>
                        <a:t>Marco Gramaglia,</a:t>
                      </a:r>
                      <a:endParaRPr lang="en-IN" sz="900" b="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br>
                        <a:rPr lang="en-I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9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051000"/>
                  </a:ext>
                </a:extLst>
              </a:tr>
              <a:tr h="468830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Digital Twins for Next-Generation Mobile Networks</a:t>
                      </a:r>
                    </a:p>
                    <a:p>
                      <a:pPr algn="l"/>
                      <a:endParaRPr lang="en-US" sz="9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994624"/>
                  </a:ext>
                </a:extLst>
              </a:tr>
              <a:tr h="468830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DETAILS: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br>
                        <a:rPr lang="en-I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01 Jan </a:t>
                      </a:r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7"/>
                        </a:rPr>
                        <a:t>2023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844594"/>
                  </a:ext>
                </a:extLst>
              </a:tr>
              <a:tr h="1174006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Digital Twins (DTs) create fully-synchronized virtual representations of real-world systems, which can serve as interactive counterparts for artificial intelligence (AI) and machine learning (ML) algorithms, and hold significant importance for the upcoming 6G mobile networks.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184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7063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F12C4-E16A-8731-B7DE-1C3490F9E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A8562-9B65-BAD3-6E48-01A438A6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45565"/>
            <a:ext cx="4419498" cy="430887"/>
          </a:xfrm>
        </p:spPr>
        <p:txBody>
          <a:bodyPr/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Literature Survey</a:t>
            </a:r>
            <a:br>
              <a:rPr lang="en-US" sz="1400" b="1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5395B1-48AC-3487-0C43-3C31E780090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IN" spc="-5"/>
              <a:t>April 26,</a:t>
            </a:r>
            <a:r>
              <a:rPr lang="en-IN" spc="-45"/>
              <a:t> </a:t>
            </a:r>
            <a:r>
              <a:rPr lang="en-IN" spc="-5"/>
              <a:t>2017</a:t>
            </a:r>
            <a:endParaRPr lang="en-IN" spc="-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444488-3DAF-46ED-E219-6D04117DFF1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/>
              <a:t>(Dept. of ECE, VVCE, Mysuru)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FED6C-91FD-3A9F-4B86-5860DF9ECC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pc="-5" smtClean="0"/>
              <a:pPr marL="25400">
                <a:lnSpc>
                  <a:spcPct val="100000"/>
                </a:lnSpc>
                <a:spcBef>
                  <a:spcPts val="70"/>
                </a:spcBef>
              </a:pPr>
              <a:t>8</a:t>
            </a:fld>
            <a:r>
              <a:rPr lang="en-IN" spc="-5"/>
              <a:t> /</a:t>
            </a:r>
            <a:r>
              <a:rPr lang="en-IN" spc="-70"/>
              <a:t> </a:t>
            </a:r>
            <a:r>
              <a:rPr lang="en-IN" spc="-5"/>
              <a:t>14</a:t>
            </a:r>
            <a:endParaRPr lang="en-IN" spc="-5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AFA6FE8-FB2F-C6CA-EA3B-0589CB427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565284"/>
              </p:ext>
            </p:extLst>
          </p:nvPr>
        </p:nvGraphicFramePr>
        <p:xfrm>
          <a:off x="68600" y="418152"/>
          <a:ext cx="4293850" cy="304156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525008">
                  <a:extLst>
                    <a:ext uri="{9D8B030D-6E8A-4147-A177-3AD203B41FA5}">
                      <a16:colId xmlns:a16="http://schemas.microsoft.com/office/drawing/2014/main" val="1354212648"/>
                    </a:ext>
                  </a:extLst>
                </a:gridCol>
                <a:gridCol w="2768842">
                  <a:extLst>
                    <a:ext uri="{9D8B030D-6E8A-4147-A177-3AD203B41FA5}">
                      <a16:colId xmlns:a16="http://schemas.microsoft.com/office/drawing/2014/main" val="1119077142"/>
                    </a:ext>
                  </a:extLst>
                </a:gridCol>
              </a:tblGrid>
              <a:tr h="724556">
                <a:tc>
                  <a:txBody>
                    <a:bodyPr/>
                    <a:lstStyle/>
                    <a:p>
                      <a:r>
                        <a:rPr lang="en-US" sz="9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nn-NO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Emmanuel Ekene Okere,Vipin Balyan</a:t>
                      </a:r>
                      <a:endParaRPr lang="en-US" sz="9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051000"/>
                  </a:ext>
                </a:extLst>
              </a:tr>
              <a:tr h="468830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Sixth Generation Enabling Technologies and Machine Learning Intersection: A Performance Optimization Perspective</a:t>
                      </a:r>
                    </a:p>
                    <a:p>
                      <a:pPr algn="l"/>
                      <a:endParaRPr lang="en-US" sz="9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994624"/>
                  </a:ext>
                </a:extLst>
              </a:tr>
              <a:tr h="468830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DETAILS: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21 Jan </a:t>
                      </a:r>
                      <a:r>
                        <a:rPr lang="en-IN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3"/>
                        </a:rPr>
                        <a:t>2025</a:t>
                      </a:r>
                      <a:br>
                        <a:rPr lang="en-I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br>
                        <a:rPr lang="en-IN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844594"/>
                  </a:ext>
                </a:extLst>
              </a:tr>
              <a:tr h="1174006">
                <a:tc>
                  <a:txBody>
                    <a:bodyPr/>
                    <a:lstStyle/>
                    <a:p>
                      <a:r>
                        <a:rPr lang="en-US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900" b="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fifth generation (5G) of wireless communication is in its finalization stage and has received favorable reception in many nations. However, research is now geared towards the anticipated sixth-generation (6G) wireless network. The new 6G promises even more severe performance criteria than the current 5G generation.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184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3105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C15F6-D5C6-ED80-8562-2BE8DB9C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45565"/>
            <a:ext cx="4419498" cy="430887"/>
          </a:xfrm>
        </p:spPr>
        <p:txBody>
          <a:bodyPr/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Objective</a:t>
            </a:r>
            <a:br>
              <a:rPr lang="en-US" sz="1400" b="1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8B1A4-5464-8A6C-9F43-248C7712E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300" y="476451"/>
            <a:ext cx="4343350" cy="1107996"/>
          </a:xfrm>
        </p:spPr>
        <p:txBody>
          <a:bodyPr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architecture to dynamically optimize beamforming patterns in 5G/6G networks, improving signal quality, user experience, and network efficiency.</a:t>
            </a:r>
          </a:p>
          <a:p>
            <a:pPr marL="228600" indent="-228600" algn="just"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8CEB75-5CB3-76C3-D797-326B8991D04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IN" spc="-5"/>
              <a:t>April 26,</a:t>
            </a:r>
            <a:r>
              <a:rPr lang="en-IN" spc="-45"/>
              <a:t> </a:t>
            </a:r>
            <a:r>
              <a:rPr lang="en-IN" spc="-5"/>
              <a:t>2017</a:t>
            </a:r>
            <a:endParaRPr lang="en-IN" spc="-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2C7F-F854-D78D-00A6-71BDFDC29819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/>
              <a:t>(Dept. of ECE, VVCE, Mysuru)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3171D-14A3-FDFF-64B9-3B91048B2B9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pc="-5" smtClean="0"/>
              <a:pPr marL="25400">
                <a:lnSpc>
                  <a:spcPct val="100000"/>
                </a:lnSpc>
                <a:spcBef>
                  <a:spcPts val="70"/>
                </a:spcBef>
              </a:pPr>
              <a:t>9</a:t>
            </a:fld>
            <a:r>
              <a:rPr lang="en-IN" spc="-5"/>
              <a:t> /</a:t>
            </a:r>
            <a:r>
              <a:rPr lang="en-IN" spc="-70"/>
              <a:t> </a:t>
            </a:r>
            <a:r>
              <a:rPr lang="en-IN" spc="-5"/>
              <a:t>14</a:t>
            </a:r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3082485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45E8F-CA0B-ECD9-6568-5E1490405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45565"/>
            <a:ext cx="4419498" cy="430887"/>
          </a:xfrm>
        </p:spPr>
        <p:txBody>
          <a:bodyPr/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Methodology</a:t>
            </a:r>
            <a:br>
              <a:rPr lang="en-US" sz="1400" b="1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EF5D5B-6C81-1A64-F9DE-1A3AF4273CD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IN" spc="-5"/>
              <a:t>April 26,</a:t>
            </a:r>
            <a:r>
              <a:rPr lang="en-IN" spc="-45"/>
              <a:t> </a:t>
            </a:r>
            <a:r>
              <a:rPr lang="en-IN" spc="-5"/>
              <a:t>2017</a:t>
            </a:r>
            <a:endParaRPr lang="en-IN" spc="-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E22F8-E3F5-C2C1-4662-E49D7515E57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/>
              <a:t>(Dept. of ECE, VVCE, Mysuru)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3D77F-6EF7-0ED7-C83B-CA209C7285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pc="-5" smtClean="0"/>
              <a:pPr marL="25400">
                <a:lnSpc>
                  <a:spcPct val="100000"/>
                </a:lnSpc>
                <a:spcBef>
                  <a:spcPts val="70"/>
                </a:spcBef>
              </a:pPr>
              <a:t>10</a:t>
            </a:fld>
            <a:r>
              <a:rPr lang="en-IN" spc="-5"/>
              <a:t> /</a:t>
            </a:r>
            <a:r>
              <a:rPr lang="en-IN" spc="-70"/>
              <a:t> </a:t>
            </a:r>
            <a:r>
              <a:rPr lang="en-IN" spc="-5"/>
              <a:t>14</a:t>
            </a:r>
            <a:endParaRPr lang="en-IN" spc="-5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42B4CE-BA72-5FCC-D941-0136D1D42574}"/>
              </a:ext>
            </a:extLst>
          </p:cNvPr>
          <p:cNvSpPr/>
          <p:nvPr/>
        </p:nvSpPr>
        <p:spPr>
          <a:xfrm>
            <a:off x="1238250" y="369587"/>
            <a:ext cx="1828800" cy="152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data set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F23458-2173-A80F-48CB-53735A8B292D}"/>
              </a:ext>
            </a:extLst>
          </p:cNvPr>
          <p:cNvSpPr/>
          <p:nvPr/>
        </p:nvSpPr>
        <p:spPr>
          <a:xfrm>
            <a:off x="1238250" y="650684"/>
            <a:ext cx="1828800" cy="5632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Pre-processes and feature selection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065097-2636-C28D-4081-1F0A3BBC9025}"/>
              </a:ext>
            </a:extLst>
          </p:cNvPr>
          <p:cNvSpPr/>
          <p:nvPr/>
        </p:nvSpPr>
        <p:spPr>
          <a:xfrm>
            <a:off x="1238250" y="1427850"/>
            <a:ext cx="1828800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SVR and NN model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84A9E55-B8B9-D5ED-12F3-5F4C338344A8}"/>
              </a:ext>
            </a:extLst>
          </p:cNvPr>
          <p:cNvSpPr/>
          <p:nvPr/>
        </p:nvSpPr>
        <p:spPr>
          <a:xfrm>
            <a:off x="1238250" y="2093056"/>
            <a:ext cx="1828800" cy="4610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SVR and NN model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FBD8D34-C052-9EF5-5F40-8D7530F7CA10}"/>
              </a:ext>
            </a:extLst>
          </p:cNvPr>
          <p:cNvSpPr/>
          <p:nvPr/>
        </p:nvSpPr>
        <p:spPr>
          <a:xfrm>
            <a:off x="1248156" y="2692335"/>
            <a:ext cx="1828800" cy="4610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in real time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3EAB17F-50F2-EE40-1F33-C1854EED3F56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2152650" y="521987"/>
            <a:ext cx="0" cy="128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5AB8817-8C7A-3A4E-5853-8688EBC46D93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2152650" y="1213980"/>
            <a:ext cx="0" cy="213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D626FDF-8F2C-6849-217D-0CECC028CDAC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2152650" y="1885050"/>
            <a:ext cx="0" cy="208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E992A4-5196-51D2-3515-E275D6D34715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2152650" y="2554086"/>
            <a:ext cx="9906" cy="138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4E6E113-B48E-DF24-4767-D06E73ABF6EA}"/>
              </a:ext>
            </a:extLst>
          </p:cNvPr>
          <p:cNvSpPr txBox="1"/>
          <p:nvPr/>
        </p:nvSpPr>
        <p:spPr>
          <a:xfrm>
            <a:off x="1248156" y="3159231"/>
            <a:ext cx="21259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Fig.3. Working Block Diagram. </a:t>
            </a:r>
          </a:p>
        </p:txBody>
      </p:sp>
    </p:spTree>
    <p:extLst>
      <p:ext uri="{BB962C8B-B14F-4D97-AF65-F5344CB8AC3E}">
        <p14:creationId xmlns:p14="http://schemas.microsoft.com/office/powerpoint/2010/main" val="3505782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978DD-1097-90C4-3228-3C7C19A8F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8FAD8-FBA6-FF59-EDB8-9BD996FF6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45565"/>
            <a:ext cx="4419498" cy="215444"/>
          </a:xfrm>
        </p:spPr>
        <p:txBody>
          <a:bodyPr/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Hardware and Software Requirements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BD9DE-4ECD-49F2-AAA7-AFA46BA7D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58" y="434975"/>
            <a:ext cx="4419497" cy="2215991"/>
          </a:xfrm>
        </p:spPr>
        <p:txBody>
          <a:bodyPr/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or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and Pandas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and Seaborn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GNU Radio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NS-3 (Network Simulator 3)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A5524-C6DE-EAFA-7D52-B33E8BFBA28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IN" spc="-5"/>
              <a:t>April 26,</a:t>
            </a:r>
            <a:r>
              <a:rPr lang="en-IN" spc="-45"/>
              <a:t> </a:t>
            </a:r>
            <a:r>
              <a:rPr lang="en-IN" spc="-5"/>
              <a:t>2017</a:t>
            </a:r>
            <a:endParaRPr lang="en-IN" spc="-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B6FE0-90FA-2F72-B272-6CABD530D491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/>
              <a:t>(Dept. of ECE, VVCE, Mysuru)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9BD11-ED12-1175-B878-EEFB3A25A0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pc="-5" smtClean="0"/>
              <a:pPr marL="25400">
                <a:lnSpc>
                  <a:spcPct val="100000"/>
                </a:lnSpc>
                <a:spcBef>
                  <a:spcPts val="70"/>
                </a:spcBef>
              </a:pPr>
              <a:t>11</a:t>
            </a:fld>
            <a:r>
              <a:rPr lang="en-IN" spc="-5"/>
              <a:t> /</a:t>
            </a:r>
            <a:r>
              <a:rPr lang="en-IN" spc="-70"/>
              <a:t> </a:t>
            </a:r>
            <a:r>
              <a:rPr lang="en-IN" spc="-5"/>
              <a:t>14</a:t>
            </a:r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166080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A49EB-AED0-3940-3C0F-436E2D677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B9087-F0B5-4A90-CBF3-0B03B0201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45565"/>
            <a:ext cx="4419498" cy="430887"/>
          </a:xfrm>
        </p:spPr>
        <p:txBody>
          <a:bodyPr/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Results and discussion</a:t>
            </a:r>
            <a:br>
              <a:rPr lang="en-US" sz="1400" b="1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0B7E5-3175-EC3B-DA2D-F75D009E6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8615" y="2500629"/>
            <a:ext cx="4343349" cy="153888"/>
          </a:xfrm>
        </p:spPr>
        <p:txBody>
          <a:bodyPr/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Fig.5. Model Comparison. 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FCE4E8-C101-61F4-29DC-BA8B6036C7E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IN" spc="-5"/>
              <a:t>April 26,</a:t>
            </a:r>
            <a:r>
              <a:rPr lang="en-IN" spc="-45"/>
              <a:t> </a:t>
            </a:r>
            <a:r>
              <a:rPr lang="en-IN" spc="-5"/>
              <a:t>2017</a:t>
            </a:r>
            <a:endParaRPr lang="en-IN" spc="-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7B030-4692-A2FF-CE65-8B57284DE0EB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/>
              <a:t>(Dept. of ECE, VVCE, Mysuru)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C54DC-7478-8A88-129D-35B43909054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pc="-5" smtClean="0"/>
              <a:pPr marL="25400">
                <a:lnSpc>
                  <a:spcPct val="100000"/>
                </a:lnSpc>
                <a:spcBef>
                  <a:spcPts val="70"/>
                </a:spcBef>
              </a:pPr>
              <a:t>12</a:t>
            </a:fld>
            <a:r>
              <a:rPr lang="en-IN" spc="-5"/>
              <a:t> /</a:t>
            </a:r>
            <a:r>
              <a:rPr lang="en-IN" spc="-70"/>
              <a:t> </a:t>
            </a:r>
            <a:r>
              <a:rPr lang="en-IN" spc="-5"/>
              <a:t>14</a:t>
            </a:r>
            <a:endParaRPr lang="en-IN" spc="-5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399E4B-3B9A-2817-2DC6-CB7881C60E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739775"/>
            <a:ext cx="2920998" cy="175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45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92150-E0BC-D3DD-63A3-BA7335A7B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06FB2-B28C-7C44-B070-06540C9B1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45565"/>
            <a:ext cx="4419498" cy="430887"/>
          </a:xfrm>
        </p:spPr>
        <p:txBody>
          <a:bodyPr/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Results and discussion</a:t>
            </a:r>
            <a:br>
              <a:rPr lang="en-US" sz="1400" b="1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2B39D-7669-4581-9793-AA79FE385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421" y="3121074"/>
            <a:ext cx="1981200" cy="307777"/>
          </a:xfrm>
        </p:spPr>
        <p:txBody>
          <a:bodyPr/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Fig.7. SVR Weights Comparison.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B0AAB-9FE5-8EC3-35C8-5213477EBD5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IN" spc="-5"/>
              <a:t>April 26,</a:t>
            </a:r>
            <a:r>
              <a:rPr lang="en-IN" spc="-45"/>
              <a:t> </a:t>
            </a:r>
            <a:r>
              <a:rPr lang="en-IN" spc="-5"/>
              <a:t>2017</a:t>
            </a:r>
            <a:endParaRPr lang="en-IN" spc="-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360AE-062F-0263-56A7-A303AA22322C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/>
              <a:t>(Dept. of ECE, VVCE, Mysuru)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B15AE-87AE-A58D-63B4-B1A84DFE174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pc="-5" smtClean="0"/>
              <a:pPr marL="25400">
                <a:lnSpc>
                  <a:spcPct val="100000"/>
                </a:lnSpc>
                <a:spcBef>
                  <a:spcPts val="70"/>
                </a:spcBef>
              </a:pPr>
              <a:t>13</a:t>
            </a:fld>
            <a:r>
              <a:rPr lang="en-IN" spc="-5"/>
              <a:t> /</a:t>
            </a:r>
            <a:r>
              <a:rPr lang="en-IN" spc="-70"/>
              <a:t> </a:t>
            </a:r>
            <a:r>
              <a:rPr lang="en-IN" spc="-5"/>
              <a:t>14</a:t>
            </a:r>
            <a:endParaRPr lang="en-IN" spc="-5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A9A605-C4C9-ADF3-F532-1987EC73FA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963" y="366219"/>
            <a:ext cx="2667000" cy="1333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E3EC21-FBCD-90D1-1C4D-CAB46A4FA2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" y="1771852"/>
            <a:ext cx="2667000" cy="1333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8EBEAA-E8D6-CDCB-1E64-D005FC133DA9}"/>
              </a:ext>
            </a:extLst>
          </p:cNvPr>
          <p:cNvSpPr txBox="1"/>
          <p:nvPr/>
        </p:nvSpPr>
        <p:spPr>
          <a:xfrm>
            <a:off x="2368777" y="1607264"/>
            <a:ext cx="19022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Fig.6. NN Weights Comparison.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051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6466E-CC01-68C2-DA67-C03CED121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4F9CC-2739-C5CD-C9C0-78DA7E06F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45565"/>
            <a:ext cx="4419498" cy="430887"/>
          </a:xfrm>
        </p:spPr>
        <p:txBody>
          <a:bodyPr/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Conclusion and future work</a:t>
            </a:r>
            <a:br>
              <a:rPr lang="en-US" sz="1400" b="1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2AC7D1-3A58-EBD6-A723-33B0CA2ED4B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IN" spc="-5"/>
              <a:t>April 26,</a:t>
            </a:r>
            <a:r>
              <a:rPr lang="en-IN" spc="-45"/>
              <a:t> </a:t>
            </a:r>
            <a:r>
              <a:rPr lang="en-IN" spc="-5"/>
              <a:t>2017</a:t>
            </a:r>
            <a:endParaRPr lang="en-IN" spc="-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59F95-05F7-8201-00A1-62C633DFADDE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/>
              <a:t>(Dept. of ECE, VVCE, Mysuru)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BDC51-BA29-D18A-13C3-F9CC3CE8B40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pc="-5" smtClean="0"/>
              <a:pPr marL="25400">
                <a:lnSpc>
                  <a:spcPct val="100000"/>
                </a:lnSpc>
                <a:spcBef>
                  <a:spcPts val="70"/>
                </a:spcBef>
              </a:pPr>
              <a:t>14</a:t>
            </a:fld>
            <a:r>
              <a:rPr lang="en-IN" spc="-5"/>
              <a:t> /</a:t>
            </a:r>
            <a:r>
              <a:rPr lang="en-IN" spc="-70"/>
              <a:t> </a:t>
            </a:r>
            <a:r>
              <a:rPr lang="en-IN" spc="-5"/>
              <a:t>14</a:t>
            </a:r>
            <a:endParaRPr lang="en-IN" spc="-5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04F336-A2E4-435A-0699-26FA7C1E0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4137" y="499947"/>
            <a:ext cx="434335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includes the implementation of a graphical user interface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is the visual part of a software application that users interact with—like buttons, windows, icons, and menus, rather than using text-based commands.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502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58801-75D6-092D-5131-EEEA17B91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5443F-9A64-AFF6-EC21-D7AB914BA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45565"/>
            <a:ext cx="4419498" cy="430887"/>
          </a:xfrm>
        </p:spPr>
        <p:txBody>
          <a:bodyPr/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References</a:t>
            </a:r>
            <a:br>
              <a:rPr lang="en-US" sz="1400" b="1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0C7DE-8FBB-6465-F4BE-7DE2A71B6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29" y="434976"/>
            <a:ext cx="4358622" cy="2954655"/>
          </a:xfrm>
        </p:spPr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[1] M. Giordani, M. Polese, A. Roy, D. Castor, and M. Zorzi, “A tutorial on beam management for 3GPP NR at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mmWave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frequencies,” IEEE Communications Surveys &amp; Tutorials, vol. 21, no. 1, pp. 173–196, 2019.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[2] W. Chen, J. Montojo, J. Lee, M. Shafi, and Y. Kim, “The standardization of 5G-Advanced in 3GPP,” IEEE Communications Magazine, vol. 60, no. 11, pp. 98–104, 2022.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G. C. Alexandropoulos, K.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Stylianopoulos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Huang, C. Yuen, M. Ben nis, and M. Debbah, “Pervasive machine learning for smart radio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vironments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enabled by reconfigurable intelligent surfaces,” Proceedings of the IEEE, vol. 110, no. 9, pp. 1494–1525, 2022.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34621C-1641-8949-A53B-65ACC4DBC81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IN" spc="-5"/>
              <a:t>April 26,</a:t>
            </a:r>
            <a:r>
              <a:rPr lang="en-IN" spc="-45"/>
              <a:t> </a:t>
            </a:r>
            <a:r>
              <a:rPr lang="en-IN" spc="-5"/>
              <a:t>2017</a:t>
            </a:r>
            <a:endParaRPr lang="en-IN" spc="-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A3CF5-830B-1E2D-DFCF-9C13CCE54F27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/>
              <a:t>(Dept. of ECE, VVCE, Mysuru)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7D363-CE6E-D759-5F19-6A6AD35F6D1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pc="-5" smtClean="0"/>
              <a:pPr marL="25400">
                <a:lnSpc>
                  <a:spcPct val="100000"/>
                </a:lnSpc>
                <a:spcBef>
                  <a:spcPts val="70"/>
                </a:spcBef>
              </a:pPr>
              <a:t>15</a:t>
            </a:fld>
            <a:r>
              <a:rPr lang="en-IN" spc="-5"/>
              <a:t> /</a:t>
            </a:r>
            <a:r>
              <a:rPr lang="en-IN" spc="-70"/>
              <a:t> </a:t>
            </a:r>
            <a:r>
              <a:rPr lang="en-IN" spc="-5"/>
              <a:t>14</a:t>
            </a:r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3739223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7DBF0-1A01-52B6-FEAF-47BC83E71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282D7-ADDE-7B0D-1D5F-8F3C91E9A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45565"/>
            <a:ext cx="4419498" cy="430887"/>
          </a:xfrm>
        </p:spPr>
        <p:txBody>
          <a:bodyPr/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References</a:t>
            </a:r>
            <a:br>
              <a:rPr lang="en-US" sz="1400" b="1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E11A6-4EBA-E158-009D-7EEC8FA1A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58" y="358776"/>
            <a:ext cx="4419498" cy="3056410"/>
          </a:xfrm>
        </p:spPr>
        <p:txBody>
          <a:bodyPr/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X. Lin, “An overview of the 3GPP study on artificial intelligence for 5G new radio,” 2023. [Online]. Available: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https://arxiv.org/abs/2308.05315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3GPP RP-213599, “New SI: Study on artificial intelligence (AI)/machine learning (ML) for NR air interface,” Tech. Rep., TSG RAN Meeting #94e, Qualcomm (Moderator), Dec. 2021.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Q. Xue, C. Ji, S. Ma, J. Guo, Y. Xu, Q. Chen, and W. Zhang, “A survey of beam management for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mmWave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THz communications towards 6G,” IEEE Communications Surveys &amp; Tutorials, pp. 1–1, 2024.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H. Jin, K. Liu, M. Zhang, L. Zhang, G. Lee, E. N. Farag, D. Zhu, E. Ong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gosanusi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Shafi, and H.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Tataria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“Massive MIMO evolution toward 3GPP release 18,” IEEE Journal on Selected Areas in Communications, vol. 41, no. 6, pp. 1635–1654, 2023.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00F35-F499-566E-E35C-AC9A4716E75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IN" spc="-5"/>
              <a:t>April 26,</a:t>
            </a:r>
            <a:r>
              <a:rPr lang="en-IN" spc="-45"/>
              <a:t> </a:t>
            </a:r>
            <a:r>
              <a:rPr lang="en-IN" spc="-5"/>
              <a:t>2017</a:t>
            </a:r>
            <a:endParaRPr lang="en-IN" spc="-5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283BC-BC6E-A160-AD89-40A8FD497F95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/>
              <a:t>(Dept. of ECE, VVCE, Mysuru)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D0ADD-A954-673A-CC60-4C16ADB9D6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lang="en-IN" spc="-5" smtClean="0"/>
              <a:pPr marL="25400">
                <a:lnSpc>
                  <a:spcPct val="100000"/>
                </a:lnSpc>
                <a:spcBef>
                  <a:spcPts val="70"/>
                </a:spcBef>
              </a:pPr>
              <a:t>16</a:t>
            </a:fld>
            <a:r>
              <a:rPr lang="en-IN" spc="-5"/>
              <a:t> /</a:t>
            </a:r>
            <a:r>
              <a:rPr lang="en-IN" spc="-70"/>
              <a:t> </a:t>
            </a:r>
            <a:r>
              <a:rPr lang="en-IN" spc="-5"/>
              <a:t>14</a:t>
            </a:r>
            <a:endParaRPr lang="en-IN" spc="-5" dirty="0"/>
          </a:p>
        </p:txBody>
      </p:sp>
    </p:spTree>
    <p:extLst>
      <p:ext uri="{BB962C8B-B14F-4D97-AF65-F5344CB8AC3E}">
        <p14:creationId xmlns:p14="http://schemas.microsoft.com/office/powerpoint/2010/main" val="521508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B148846-BEE5-4A66-825D-B0B8649342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0" y="520700"/>
            <a:ext cx="3438525" cy="227647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6"/>
          </p:nvPr>
        </p:nvSpPr>
        <p:spPr>
          <a:xfrm>
            <a:off x="552450" y="3368417"/>
            <a:ext cx="1065530" cy="92333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lang="en-US" spc="-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(Dept. of  ECE, VVCE, </a:t>
            </a:r>
            <a:r>
              <a:rPr lang="en-US" spc="-5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Mysuru</a:t>
            </a:r>
            <a:r>
              <a:rPr lang="en-US" spc="-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8335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3689</TotalTime>
  <Words>1347</Words>
  <Application>Microsoft Office PowerPoint</Application>
  <PresentationFormat>Custom</PresentationFormat>
  <Paragraphs>190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Times New Roman</vt:lpstr>
      <vt:lpstr>Trebuchet MS</vt:lpstr>
      <vt:lpstr>Wingdings</vt:lpstr>
      <vt:lpstr>Office Theme</vt:lpstr>
      <vt:lpstr>PowerPoint Presentation</vt:lpstr>
      <vt:lpstr>CONTENTS</vt:lpstr>
      <vt:lpstr>Introduction </vt:lpstr>
      <vt:lpstr>Literature Survey </vt:lpstr>
      <vt:lpstr>Literature Survey </vt:lpstr>
      <vt:lpstr>Literature Survey </vt:lpstr>
      <vt:lpstr>Literature Survey </vt:lpstr>
      <vt:lpstr>Literature Survey </vt:lpstr>
      <vt:lpstr>Objective </vt:lpstr>
      <vt:lpstr>Methodology </vt:lpstr>
      <vt:lpstr>Hardware and Software Requirements</vt:lpstr>
      <vt:lpstr>Results and discussion </vt:lpstr>
      <vt:lpstr>Results and discussion </vt:lpstr>
      <vt:lpstr>Conclusion and future work </vt:lpstr>
      <vt:lpstr>References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the Title of the Project</dc:title>
  <dc:creator>Aditya B.P.</dc:creator>
  <cp:lastModifiedBy>Chirag C N</cp:lastModifiedBy>
  <cp:revision>426</cp:revision>
  <dcterms:created xsi:type="dcterms:W3CDTF">2017-11-01T18:50:57Z</dcterms:created>
  <dcterms:modified xsi:type="dcterms:W3CDTF">2025-04-10T08:20:01Z</dcterms:modified>
</cp:coreProperties>
</file>